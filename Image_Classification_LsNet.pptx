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49E6E1-30E8-454B-BFED-BEB2BA13D5C8}">
  <a:tblStyle styleId="{0949E6E1-30E8-454B-BFED-BEB2BA13D5C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7ed2d8f61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7ed2d8f61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d67d049d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d67d049d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d67d049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d67d049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d699b568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d699b568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d699b568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d699b568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d699b568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d699b568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d67d049d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d67d049d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e7ed2d8f6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e7ed2d8f6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df86826bf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df86826bf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d699b568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d699b568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highlight>
                <a:schemeClr val="dk1"/>
              </a:high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e7ed2d8f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e7ed2d8f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7ec2d0ed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7ec2d0ed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7ed2d8f6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7ed2d8f6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7ec2d0ed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7ec2d0ed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7ec2d0ed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7ec2d0ed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7ed2d8f6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e7ed2d8f6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7ec2d0ed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7ec2d0ed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7ed2d8f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7ed2d8f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7ed2d8f6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7ed2d8f6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7ed2d8f61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7ed2d8f61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ddf86826bf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ddf86826bf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openaccess.thecvf.com/content/CVPR2025/papers/Wang_LSNet_See_Large_Focus_Small_CVPR_2025_paper.pdf" TargetMode="External"/><Relationship Id="rId4" Type="http://schemas.openxmlformats.org/officeDocument/2006/relationships/hyperlink" Target="https://github.com/jameslahm/lsne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0" y="0"/>
            <a:ext cx="9144000" cy="1428900"/>
          </a:xfrm>
          <a:prstGeom prst="rect">
            <a:avLst/>
          </a:prstGeom>
          <a:solidFill>
            <a:srgbClr val="EAD1DC">
              <a:alpha val="3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5" name="Google Shape;55;p13"/>
          <p:cNvGrpSpPr/>
          <p:nvPr/>
        </p:nvGrpSpPr>
        <p:grpSpPr>
          <a:xfrm>
            <a:off x="2667000" y="476250"/>
            <a:ext cx="3810000" cy="476400"/>
            <a:chOff x="2667000" y="476250"/>
            <a:chExt cx="3810000" cy="476400"/>
          </a:xfrm>
        </p:grpSpPr>
        <p:sp>
          <p:nvSpPr>
            <p:cNvPr id="56" name="Google Shape;56;p13"/>
            <p:cNvSpPr/>
            <p:nvPr/>
          </p:nvSpPr>
          <p:spPr>
            <a:xfrm>
              <a:off x="2667000" y="476250"/>
              <a:ext cx="3810000" cy="476400"/>
            </a:xfrm>
            <a:prstGeom prst="roundRect">
              <a:avLst>
                <a:gd fmla="val 8000" name="adj"/>
              </a:avLst>
            </a:prstGeom>
            <a:solidFill>
              <a:srgbClr val="EAD1D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3"/>
            <p:cNvSpPr txBox="1"/>
            <p:nvPr/>
          </p:nvSpPr>
          <p:spPr>
            <a:xfrm>
              <a:off x="2667000" y="476250"/>
              <a:ext cx="3810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800">
                  <a:solidFill>
                    <a:srgbClr val="595959"/>
                  </a:solidFill>
                  <a:latin typeface="Arial"/>
                  <a:ea typeface="Arial"/>
                  <a:cs typeface="Arial"/>
                  <a:sym typeface="Arial"/>
                </a:rPr>
                <a:t>MLSI Mini Project</a:t>
              </a:r>
              <a:endParaRPr b="1" sz="1800">
                <a:solidFill>
                  <a:srgbClr val="595959"/>
                </a:solidFill>
                <a:latin typeface="Arial"/>
                <a:ea typeface="Arial"/>
                <a:cs typeface="Arial"/>
                <a:sym typeface="Arial"/>
              </a:endParaRPr>
            </a:p>
          </p:txBody>
        </p:sp>
      </p:grpSp>
      <p:sp>
        <p:nvSpPr>
          <p:cNvPr id="58" name="Google Shape;58;p13"/>
          <p:cNvSpPr txBox="1"/>
          <p:nvPr>
            <p:ph type="ctrTitle"/>
          </p:nvPr>
        </p:nvSpPr>
        <p:spPr>
          <a:xfrm>
            <a:off x="762000" y="1714500"/>
            <a:ext cx="76200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600">
                <a:solidFill>
                  <a:srgbClr val="1A1A1A"/>
                </a:solidFill>
                <a:latin typeface="Times New Roman"/>
                <a:ea typeface="Times New Roman"/>
                <a:cs typeface="Times New Roman"/>
                <a:sym typeface="Times New Roman"/>
              </a:rPr>
              <a:t>Efficient Image Classification using LSNet Variants</a:t>
            </a:r>
            <a:endParaRPr b="1" i="0" sz="3600">
              <a:solidFill>
                <a:srgbClr val="1A1A1A"/>
              </a:solidFill>
              <a:latin typeface="Times New Roman"/>
              <a:ea typeface="Times New Roman"/>
              <a:cs typeface="Times New Roman"/>
              <a:sym typeface="Times New Roman"/>
            </a:endParaRPr>
          </a:p>
        </p:txBody>
      </p:sp>
      <p:cxnSp>
        <p:nvCxnSpPr>
          <p:cNvPr id="59" name="Google Shape;59;p13"/>
          <p:cNvCxnSpPr/>
          <p:nvPr/>
        </p:nvCxnSpPr>
        <p:spPr>
          <a:xfrm>
            <a:off x="3619500" y="3048000"/>
            <a:ext cx="1905000" cy="0"/>
          </a:xfrm>
          <a:prstGeom prst="straightConnector1">
            <a:avLst/>
          </a:prstGeom>
          <a:solidFill>
            <a:srgbClr val="FFFFFF"/>
          </a:solidFill>
          <a:ln cap="flat" cmpd="sng" w="28575">
            <a:solidFill>
              <a:srgbClr val="EAD1DC"/>
            </a:solidFill>
            <a:prstDash val="solid"/>
            <a:round/>
            <a:headEnd len="sm" w="sm" type="none"/>
            <a:tailEnd len="sm" w="sm" type="none"/>
          </a:ln>
        </p:spPr>
      </p:cxnSp>
      <p:sp>
        <p:nvSpPr>
          <p:cNvPr id="60" name="Google Shape;60;p13"/>
          <p:cNvSpPr txBox="1"/>
          <p:nvPr>
            <p:ph type="ctrTitle"/>
          </p:nvPr>
        </p:nvSpPr>
        <p:spPr>
          <a:xfrm>
            <a:off x="1714500" y="3429000"/>
            <a:ext cx="57150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i="0" lang="en" sz="2000">
                <a:solidFill>
                  <a:srgbClr val="444444"/>
                </a:solidFill>
                <a:latin typeface="Times New Roman"/>
                <a:ea typeface="Times New Roman"/>
                <a:cs typeface="Times New Roman"/>
                <a:sym typeface="Times New Roman"/>
              </a:rPr>
              <a:t>Vinay Kumar Kushwaha — EE25M314</a:t>
            </a:r>
            <a:endParaRPr b="0" i="0" sz="2000">
              <a:solidFill>
                <a:srgbClr val="444444"/>
              </a:solidFill>
              <a:latin typeface="Times New Roman"/>
              <a:ea typeface="Times New Roman"/>
              <a:cs typeface="Times New Roman"/>
              <a:sym typeface="Times New Roman"/>
            </a:endParaRPr>
          </a:p>
          <a:p>
            <a:pPr indent="0" lvl="0" marL="0" rtl="0" algn="ctr">
              <a:spcBef>
                <a:spcPts val="750"/>
              </a:spcBef>
              <a:spcAft>
                <a:spcPts val="0"/>
              </a:spcAft>
              <a:buNone/>
            </a:pPr>
            <a:r>
              <a:rPr b="0" i="0" lang="en" sz="2000">
                <a:solidFill>
                  <a:srgbClr val="444444"/>
                </a:solidFill>
                <a:latin typeface="Times New Roman"/>
                <a:ea typeface="Times New Roman"/>
                <a:cs typeface="Times New Roman"/>
                <a:sym typeface="Times New Roman"/>
              </a:rPr>
              <a:t>Bhoumik Chandra Bagh — EE25M305</a:t>
            </a:r>
            <a:endParaRPr b="0" i="0" sz="2000">
              <a:solidFill>
                <a:srgbClr val="444444"/>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idx="4294967295" type="title"/>
          </p:nvPr>
        </p:nvSpPr>
        <p:spPr>
          <a:xfrm>
            <a:off x="70500" y="55950"/>
            <a:ext cx="86985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sp>
        <p:nvSpPr>
          <p:cNvPr id="66" name="Google Shape;66;p14"/>
          <p:cNvSpPr txBox="1"/>
          <p:nvPr>
            <p:ph idx="4294967295" type="body"/>
          </p:nvPr>
        </p:nvSpPr>
        <p:spPr>
          <a:xfrm>
            <a:off x="70500" y="1131750"/>
            <a:ext cx="4621200" cy="3101400"/>
          </a:xfrm>
          <a:prstGeom prst="rect">
            <a:avLst/>
          </a:prstGeom>
        </p:spPr>
        <p:txBody>
          <a:bodyPr anchorCtr="0" anchor="t" bIns="91425" lIns="91425" spcFirstLastPara="1" rIns="91425" wrap="square" tIns="91425">
            <a:normAutofit fontScale="25000" lnSpcReduction="20000"/>
          </a:bodyPr>
          <a:lstStyle/>
          <a:p>
            <a:pPr indent="-328735" lvl="0" marL="457200" rtl="0" algn="just">
              <a:lnSpc>
                <a:spcPct val="150000"/>
              </a:lnSpc>
              <a:spcBef>
                <a:spcPts val="0"/>
              </a:spcBef>
              <a:spcAft>
                <a:spcPts val="0"/>
              </a:spcAft>
              <a:buClr>
                <a:schemeClr val="dk1"/>
              </a:buClr>
              <a:buSzPct val="100000"/>
              <a:buFont typeface="Times New Roman"/>
              <a:buChar char="●"/>
            </a:pPr>
            <a:r>
              <a:rPr lang="en" sz="6308">
                <a:solidFill>
                  <a:schemeClr val="dk1"/>
                </a:solidFill>
                <a:latin typeface="Times New Roman"/>
                <a:ea typeface="Times New Roman"/>
                <a:cs typeface="Times New Roman"/>
                <a:sym typeface="Times New Roman"/>
              </a:rPr>
              <a:t>Lightweight CNN models are efficient but suffer from limited receptive fields, preventing them from capturing global contextual information. </a:t>
            </a:r>
            <a:endParaRPr sz="6308">
              <a:solidFill>
                <a:schemeClr val="dk1"/>
              </a:solidFill>
              <a:latin typeface="Times New Roman"/>
              <a:ea typeface="Times New Roman"/>
              <a:cs typeface="Times New Roman"/>
              <a:sym typeface="Times New Roman"/>
            </a:endParaRPr>
          </a:p>
          <a:p>
            <a:pPr indent="-328735" lvl="0" marL="457200" rtl="0" algn="just">
              <a:lnSpc>
                <a:spcPct val="150000"/>
              </a:lnSpc>
              <a:spcBef>
                <a:spcPts val="0"/>
              </a:spcBef>
              <a:spcAft>
                <a:spcPts val="0"/>
              </a:spcAft>
              <a:buClr>
                <a:schemeClr val="dk1"/>
              </a:buClr>
              <a:buSzPct val="100000"/>
              <a:buFont typeface="Times New Roman"/>
              <a:buChar char="●"/>
            </a:pPr>
            <a:r>
              <a:rPr lang="en" sz="6308">
                <a:solidFill>
                  <a:schemeClr val="dk1"/>
                </a:solidFill>
                <a:latin typeface="Times New Roman"/>
                <a:ea typeface="Times New Roman"/>
                <a:cs typeface="Times New Roman"/>
                <a:sym typeface="Times New Roman"/>
              </a:rPr>
              <a:t>Therefore, we can use LSNet (Large-Small Network), which follows the “See Large, Focus Small”. It can capture both global contextual information and local features while maintaining computational efficiency. Feature representation and classification performance can be improved.</a:t>
            </a:r>
            <a:endParaRPr sz="6308">
              <a:solidFill>
                <a:schemeClr val="dk1"/>
              </a:solidFill>
              <a:latin typeface="Times New Roman"/>
              <a:ea typeface="Times New Roman"/>
              <a:cs typeface="Times New Roman"/>
              <a:sym typeface="Times New Roman"/>
            </a:endParaRPr>
          </a:p>
          <a:p>
            <a:pPr indent="0" lvl="0" marL="457200" rtl="0" algn="just">
              <a:lnSpc>
                <a:spcPct val="100000"/>
              </a:lnSpc>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100">
              <a:solidFill>
                <a:schemeClr val="dk1"/>
              </a:solidFill>
            </a:endParaRPr>
          </a:p>
          <a:p>
            <a:pPr indent="0" lvl="0" marL="914400" rtl="0" algn="l">
              <a:spcBef>
                <a:spcPts val="1200"/>
              </a:spcBef>
              <a:spcAft>
                <a:spcPts val="1200"/>
              </a:spcAft>
              <a:buNone/>
            </a:pPr>
            <a:r>
              <a:t/>
            </a:r>
            <a:endParaRPr sz="1100">
              <a:solidFill>
                <a:schemeClr val="dk1"/>
              </a:solidFill>
            </a:endParaRPr>
          </a:p>
        </p:txBody>
      </p:sp>
      <p:pic>
        <p:nvPicPr>
          <p:cNvPr id="67" name="Google Shape;67;p14"/>
          <p:cNvPicPr preferRelativeResize="0"/>
          <p:nvPr/>
        </p:nvPicPr>
        <p:blipFill>
          <a:blip r:embed="rId3">
            <a:alphaModFix/>
          </a:blip>
          <a:stretch>
            <a:fillRect/>
          </a:stretch>
        </p:blipFill>
        <p:spPr>
          <a:xfrm>
            <a:off x="4922475" y="1310000"/>
            <a:ext cx="4221527" cy="252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54925" y="196025"/>
            <a:ext cx="86985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Project Objective</a:t>
            </a:r>
            <a:endParaRPr>
              <a:latin typeface="Times New Roman"/>
              <a:ea typeface="Times New Roman"/>
              <a:cs typeface="Times New Roman"/>
              <a:sym typeface="Times New Roman"/>
            </a:endParaRPr>
          </a:p>
        </p:txBody>
      </p:sp>
      <p:sp>
        <p:nvSpPr>
          <p:cNvPr id="73" name="Google Shape;73;p15"/>
          <p:cNvSpPr txBox="1"/>
          <p:nvPr>
            <p:ph idx="1" type="body"/>
          </p:nvPr>
        </p:nvSpPr>
        <p:spPr>
          <a:xfrm>
            <a:off x="311700" y="918200"/>
            <a:ext cx="8520600" cy="3650700"/>
          </a:xfrm>
          <a:prstGeom prst="rect">
            <a:avLst/>
          </a:prstGeom>
        </p:spPr>
        <p:txBody>
          <a:bodyPr anchorCtr="0" anchor="t" bIns="91425" lIns="91425" spcFirstLastPara="1" rIns="91425" wrap="square" tIns="91425">
            <a:normAutofit lnSpcReduction="20000"/>
          </a:bodyPr>
          <a:lstStyle/>
          <a:p>
            <a:pPr indent="0" lvl="0" marL="0" rtl="0" algn="l">
              <a:lnSpc>
                <a:spcPct val="200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330200" lvl="0" marL="457200" rtl="0" algn="l">
              <a:lnSpc>
                <a:spcPct val="200000"/>
              </a:lnSpc>
              <a:spcBef>
                <a:spcPts val="120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Establish a baseline using ResNet for image classification.</a:t>
            </a:r>
            <a:endParaRPr sz="1600">
              <a:solidFill>
                <a:schemeClr val="dk1"/>
              </a:solidFill>
              <a:latin typeface="Times New Roman"/>
              <a:ea typeface="Times New Roman"/>
              <a:cs typeface="Times New Roman"/>
              <a:sym typeface="Times New Roman"/>
            </a:endParaRPr>
          </a:p>
          <a:p>
            <a:pPr indent="-330200" lvl="0" marL="457200" rtl="0" algn="l">
              <a:lnSpc>
                <a:spcPct val="2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Implement LSNet variants (Tiny, Small, Base) using the </a:t>
            </a:r>
            <a:r>
              <a:rPr i="1" lang="en" sz="1600">
                <a:solidFill>
                  <a:schemeClr val="dk1"/>
                </a:solidFill>
                <a:latin typeface="Times New Roman"/>
                <a:ea typeface="Times New Roman"/>
                <a:cs typeface="Times New Roman"/>
                <a:sym typeface="Times New Roman"/>
              </a:rPr>
              <a:t>“See Large, Focus Small”</a:t>
            </a:r>
            <a:r>
              <a:rPr lang="en" sz="1600">
                <a:solidFill>
                  <a:schemeClr val="dk1"/>
                </a:solidFill>
                <a:latin typeface="Times New Roman"/>
                <a:ea typeface="Times New Roman"/>
                <a:cs typeface="Times New Roman"/>
                <a:sym typeface="Times New Roman"/>
              </a:rPr>
              <a:t> strategy.</a:t>
            </a:r>
            <a:endParaRPr sz="1600">
              <a:solidFill>
                <a:schemeClr val="dk1"/>
              </a:solidFill>
              <a:latin typeface="Times New Roman"/>
              <a:ea typeface="Times New Roman"/>
              <a:cs typeface="Times New Roman"/>
              <a:sym typeface="Times New Roman"/>
            </a:endParaRPr>
          </a:p>
          <a:p>
            <a:pPr indent="-330200" lvl="0" marL="457200" rtl="0" algn="l">
              <a:lnSpc>
                <a:spcPct val="2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Train and evaluate models on CIFAR-10 under consistent settings.</a:t>
            </a:r>
            <a:endParaRPr sz="1600">
              <a:solidFill>
                <a:schemeClr val="dk1"/>
              </a:solidFill>
              <a:latin typeface="Times New Roman"/>
              <a:ea typeface="Times New Roman"/>
              <a:cs typeface="Times New Roman"/>
              <a:sym typeface="Times New Roman"/>
            </a:endParaRPr>
          </a:p>
          <a:p>
            <a:pPr indent="-330200" lvl="0" marL="457200" rtl="0" algn="l">
              <a:lnSpc>
                <a:spcPct val="2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Compare performance using accuracy, parameters, FLOPs, and inference time.</a:t>
            </a:r>
            <a:endParaRPr sz="1600">
              <a:solidFill>
                <a:schemeClr val="dk1"/>
              </a:solidFill>
              <a:latin typeface="Times New Roman"/>
              <a:ea typeface="Times New Roman"/>
              <a:cs typeface="Times New Roman"/>
              <a:sym typeface="Times New Roman"/>
            </a:endParaRPr>
          </a:p>
          <a:p>
            <a:pPr indent="-330200" lvl="0" marL="457200" rtl="0" algn="l">
              <a:lnSpc>
                <a:spcPct val="200000"/>
              </a:lnSpc>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Analyze feature representation improvements using visualization techniques.</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2552300" y="445025"/>
            <a:ext cx="4614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latin typeface="Times New Roman"/>
                <a:ea typeface="Times New Roman"/>
                <a:cs typeface="Times New Roman"/>
                <a:sym typeface="Times New Roman"/>
              </a:rPr>
              <a:t>      Baseline Architecture: ResNet</a:t>
            </a:r>
            <a:endParaRPr sz="3800">
              <a:latin typeface="Times New Roman"/>
              <a:ea typeface="Times New Roman"/>
              <a:cs typeface="Times New Roman"/>
              <a:sym typeface="Times New Roman"/>
            </a:endParaRPr>
          </a:p>
        </p:txBody>
      </p:sp>
      <p:sp>
        <p:nvSpPr>
          <p:cNvPr id="79" name="Google Shape;79;p16"/>
          <p:cNvSpPr txBox="1"/>
          <p:nvPr>
            <p:ph idx="1" type="body"/>
          </p:nvPr>
        </p:nvSpPr>
        <p:spPr>
          <a:xfrm>
            <a:off x="311700" y="1152475"/>
            <a:ext cx="47619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311150" lvl="0" marL="457200" rtl="0" algn="l">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ResNet uses residual (skip) connections to enable stable training of deep networks.</a:t>
            </a:r>
            <a:endParaRPr sz="1300">
              <a:solidFill>
                <a:schemeClr val="dk1"/>
              </a:solidFill>
              <a:latin typeface="Times New Roman"/>
              <a:ea typeface="Times New Roman"/>
              <a:cs typeface="Times New Roman"/>
              <a:sym typeface="Times New Roman"/>
            </a:endParaRPr>
          </a:p>
          <a:p>
            <a:pPr indent="-311150" lvl="0" marL="457200" rtl="0" algn="l">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Learns residual mappings, improving gradient flow and convergence.</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1200">
                <a:solidFill>
                  <a:schemeClr val="dk1"/>
                </a:solidFill>
                <a:latin typeface="Times New Roman"/>
                <a:ea typeface="Times New Roman"/>
                <a:cs typeface="Times New Roman"/>
                <a:sym typeface="Times New Roman"/>
              </a:rPr>
              <a:t>Key Components:</a:t>
            </a:r>
            <a:endParaRPr b="1" sz="1200">
              <a:solidFill>
                <a:schemeClr val="dk1"/>
              </a:solidFill>
              <a:latin typeface="Times New Roman"/>
              <a:ea typeface="Times New Roman"/>
              <a:cs typeface="Times New Roman"/>
              <a:sym typeface="Times New Roman"/>
            </a:endParaRPr>
          </a:p>
          <a:p>
            <a:pPr indent="-304800" lvl="0" marL="457200" rtl="0" algn="l">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Convolutional layers for feature extraction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Batch Normalization for faster convergence</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ReLU activation for non-linearity</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Residual (skip) blocks for efficient gradient flow</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
        <p:nvSpPr>
          <p:cNvPr id="80" name="Google Shape;80;p16"/>
          <p:cNvSpPr txBox="1"/>
          <p:nvPr/>
        </p:nvSpPr>
        <p:spPr>
          <a:xfrm>
            <a:off x="6186225" y="1781950"/>
            <a:ext cx="288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81" name="Google Shape;81;p16"/>
          <p:cNvPicPr preferRelativeResize="0"/>
          <p:nvPr/>
        </p:nvPicPr>
        <p:blipFill>
          <a:blip r:embed="rId3">
            <a:alphaModFix/>
          </a:blip>
          <a:stretch>
            <a:fillRect/>
          </a:stretch>
        </p:blipFill>
        <p:spPr>
          <a:xfrm>
            <a:off x="5127950" y="1392875"/>
            <a:ext cx="3766200" cy="2858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              Drawbacks of Conventional CNNs</a:t>
            </a:r>
            <a:endParaRPr>
              <a:latin typeface="Times New Roman"/>
              <a:ea typeface="Times New Roman"/>
              <a:cs typeface="Times New Roman"/>
              <a:sym typeface="Times New Roman"/>
            </a:endParaRPr>
          </a:p>
        </p:txBody>
      </p:sp>
      <p:sp>
        <p:nvSpPr>
          <p:cNvPr id="87" name="Google Shape;87;p17"/>
          <p:cNvSpPr txBox="1"/>
          <p:nvPr>
            <p:ph idx="1" type="body"/>
          </p:nvPr>
        </p:nvSpPr>
        <p:spPr>
          <a:xfrm>
            <a:off x="311700" y="1307275"/>
            <a:ext cx="8520600" cy="3261600"/>
          </a:xfrm>
          <a:prstGeom prst="rect">
            <a:avLst/>
          </a:prstGeom>
        </p:spPr>
        <p:txBody>
          <a:bodyPr anchorCtr="0" anchor="t" bIns="91425" lIns="91425" spcFirstLastPara="1" rIns="91425" wrap="square" tIns="91425">
            <a:normAutofit/>
          </a:bodyPr>
          <a:lstStyle/>
          <a:p>
            <a:pPr indent="0" lvl="0" marL="457200" rtl="0" algn="l">
              <a:lnSpc>
                <a:spcPct val="200000"/>
              </a:lnSpc>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12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Small kernel sizes lead to a limited receptive field and restricted context understanding.</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Struggle to capture long-range spatial dependencies effectively.</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Use fixed convolution filters, lacking adaptability to varying input features.</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Increasing depth to improve performance results in higher computational cost.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221475" y="71525"/>
            <a:ext cx="2933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LS Convolution</a:t>
            </a:r>
            <a:endParaRPr>
              <a:latin typeface="Times New Roman"/>
              <a:ea typeface="Times New Roman"/>
              <a:cs typeface="Times New Roman"/>
              <a:sym typeface="Times New Roman"/>
            </a:endParaRPr>
          </a:p>
        </p:txBody>
      </p:sp>
      <p:sp>
        <p:nvSpPr>
          <p:cNvPr id="93" name="Google Shape;93;p18"/>
          <p:cNvSpPr txBox="1"/>
          <p:nvPr>
            <p:ph idx="1" type="body"/>
          </p:nvPr>
        </p:nvSpPr>
        <p:spPr>
          <a:xfrm>
            <a:off x="179400" y="925975"/>
            <a:ext cx="5594400" cy="336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chemeClr val="dk1"/>
                </a:solidFill>
                <a:latin typeface="Times New Roman"/>
                <a:ea typeface="Times New Roman"/>
                <a:cs typeface="Times New Roman"/>
                <a:sym typeface="Times New Roman"/>
              </a:rPr>
              <a:t>Consists of two stages:</a:t>
            </a:r>
            <a:br>
              <a:rPr lang="en" sz="1500">
                <a:solidFill>
                  <a:schemeClr val="dk1"/>
                </a:solidFill>
                <a:latin typeface="Times New Roman"/>
                <a:ea typeface="Times New Roman"/>
                <a:cs typeface="Times New Roman"/>
                <a:sym typeface="Times New Roman"/>
              </a:rPr>
            </a:br>
            <a:r>
              <a:rPr lang="en" sz="1500">
                <a:solidFill>
                  <a:schemeClr val="dk1"/>
                </a:solidFill>
                <a:latin typeface="Times New Roman"/>
                <a:ea typeface="Times New Roman"/>
                <a:cs typeface="Times New Roman"/>
                <a:sym typeface="Times New Roman"/>
              </a:rPr>
              <a:t> Large-Kernel Perception (LKP): captures wide contextual information</a:t>
            </a:r>
            <a:br>
              <a:rPr b="1" lang="en" sz="1500">
                <a:solidFill>
                  <a:schemeClr val="dk1"/>
                </a:solidFill>
                <a:latin typeface="Times New Roman"/>
                <a:ea typeface="Times New Roman"/>
                <a:cs typeface="Times New Roman"/>
                <a:sym typeface="Times New Roman"/>
              </a:rPr>
            </a:br>
            <a:r>
              <a:rPr lang="en" sz="1500">
                <a:solidFill>
                  <a:schemeClr val="dk1"/>
                </a:solidFill>
                <a:latin typeface="Times New Roman"/>
                <a:ea typeface="Times New Roman"/>
                <a:cs typeface="Times New Roman"/>
                <a:sym typeface="Times New Roman"/>
              </a:rPr>
              <a:t> </a:t>
            </a:r>
            <a:r>
              <a:rPr b="1" lang="en" sz="1500">
                <a:solidFill>
                  <a:schemeClr val="dk1"/>
                </a:solidFill>
                <a:latin typeface="Times New Roman"/>
                <a:ea typeface="Times New Roman"/>
                <a:cs typeface="Times New Roman"/>
                <a:sym typeface="Times New Roman"/>
              </a:rPr>
              <a:t>S</a:t>
            </a:r>
            <a:r>
              <a:rPr lang="en" sz="1500">
                <a:solidFill>
                  <a:schemeClr val="dk1"/>
                </a:solidFill>
                <a:latin typeface="Times New Roman"/>
                <a:ea typeface="Times New Roman"/>
                <a:cs typeface="Times New Roman"/>
                <a:sym typeface="Times New Roman"/>
              </a:rPr>
              <a:t>mall-Kernel Aggregation (SKA): refines local fine-grained features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1500">
                <a:solidFill>
                  <a:schemeClr val="dk1"/>
                </a:solidFill>
                <a:latin typeface="Times New Roman"/>
                <a:ea typeface="Times New Roman"/>
                <a:cs typeface="Times New Roman"/>
                <a:sym typeface="Times New Roman"/>
              </a:rPr>
              <a:t>Effectively combines global perception with precise local feature extraction.</a:t>
            </a:r>
            <a:endParaRPr sz="1300">
              <a:solidFill>
                <a:schemeClr val="dk1"/>
              </a:solidFill>
            </a:endParaRPr>
          </a:p>
        </p:txBody>
      </p:sp>
      <p:pic>
        <p:nvPicPr>
          <p:cNvPr id="94" name="Google Shape;94;p18"/>
          <p:cNvPicPr preferRelativeResize="0"/>
          <p:nvPr/>
        </p:nvPicPr>
        <p:blipFill>
          <a:blip r:embed="rId3">
            <a:alphaModFix/>
          </a:blip>
          <a:stretch>
            <a:fillRect/>
          </a:stretch>
        </p:blipFill>
        <p:spPr>
          <a:xfrm>
            <a:off x="5884175" y="845063"/>
            <a:ext cx="2753375" cy="3531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2510075" y="105550"/>
            <a:ext cx="3946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00">
                <a:latin typeface="Times New Roman"/>
                <a:ea typeface="Times New Roman"/>
                <a:cs typeface="Times New Roman"/>
                <a:sym typeface="Times New Roman"/>
              </a:rPr>
              <a:t>LSNet Architecture &amp; It’s Varients</a:t>
            </a:r>
            <a:endParaRPr sz="3600">
              <a:latin typeface="Times New Roman"/>
              <a:ea typeface="Times New Roman"/>
              <a:cs typeface="Times New Roman"/>
              <a:sym typeface="Times New Roman"/>
            </a:endParaRPr>
          </a:p>
        </p:txBody>
      </p:sp>
      <p:pic>
        <p:nvPicPr>
          <p:cNvPr id="100" name="Google Shape;100;p19"/>
          <p:cNvPicPr preferRelativeResize="0"/>
          <p:nvPr/>
        </p:nvPicPr>
        <p:blipFill>
          <a:blip r:embed="rId3">
            <a:alphaModFix/>
          </a:blip>
          <a:stretch>
            <a:fillRect/>
          </a:stretch>
        </p:blipFill>
        <p:spPr>
          <a:xfrm>
            <a:off x="642500" y="744802"/>
            <a:ext cx="4219575" cy="3792849"/>
          </a:xfrm>
          <a:prstGeom prst="rect">
            <a:avLst/>
          </a:prstGeom>
          <a:noFill/>
          <a:ln>
            <a:noFill/>
          </a:ln>
        </p:spPr>
      </p:pic>
      <p:sp>
        <p:nvSpPr>
          <p:cNvPr id="101" name="Google Shape;101;p19"/>
          <p:cNvSpPr txBox="1"/>
          <p:nvPr>
            <p:ph idx="1" type="body"/>
          </p:nvPr>
        </p:nvSpPr>
        <p:spPr>
          <a:xfrm>
            <a:off x="4699950" y="1066900"/>
            <a:ext cx="41091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b="1"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LSNet-T (Tiny):</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~0.3 GFLOPs →</a:t>
            </a:r>
            <a:r>
              <a:rPr lang="en" sz="1400">
                <a:solidFill>
                  <a:schemeClr val="dk1"/>
                </a:solidFill>
                <a:latin typeface="Times New Roman"/>
                <a:ea typeface="Times New Roman"/>
                <a:cs typeface="Times New Roman"/>
                <a:sym typeface="Times New Roman"/>
              </a:rPr>
              <a:t> lightweight and fastest</a:t>
            </a:r>
            <a:r>
              <a:rPr lang="en" sz="1400">
                <a:solidFill>
                  <a:schemeClr val="dk1"/>
                </a:solidFill>
                <a:latin typeface="Times New Roman"/>
                <a:ea typeface="Times New Roman"/>
                <a:cs typeface="Times New Roman"/>
                <a:sym typeface="Times New Roman"/>
              </a:rPr>
              <a:t>, suitable for real-time applications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LSNet-S (Small):</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~0.5 GFLOPs → </a:t>
            </a:r>
            <a:r>
              <a:rPr lang="en" sz="1400">
                <a:solidFill>
                  <a:schemeClr val="dk1"/>
                </a:solidFill>
                <a:latin typeface="Times New Roman"/>
                <a:ea typeface="Times New Roman"/>
                <a:cs typeface="Times New Roman"/>
                <a:sym typeface="Times New Roman"/>
              </a:rPr>
              <a:t>balanced trade-off</a:t>
            </a:r>
            <a:r>
              <a:rPr lang="en" sz="1400">
                <a:solidFill>
                  <a:schemeClr val="dk1"/>
                </a:solidFill>
                <a:latin typeface="Times New Roman"/>
                <a:ea typeface="Times New Roman"/>
                <a:cs typeface="Times New Roman"/>
                <a:sym typeface="Times New Roman"/>
              </a:rPr>
              <a:t> between accuracy and efficiency</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400">
                <a:solidFill>
                  <a:schemeClr val="dk1"/>
                </a:solidFill>
                <a:latin typeface="Times New Roman"/>
                <a:ea typeface="Times New Roman"/>
                <a:cs typeface="Times New Roman"/>
                <a:sym typeface="Times New Roman"/>
              </a:rPr>
              <a:t>LSNet-B (Base):</a:t>
            </a:r>
            <a:br>
              <a:rPr b="1" lang="en" sz="1400">
                <a:solidFill>
                  <a:schemeClr val="dk1"/>
                </a:solidFill>
                <a:latin typeface="Times New Roman"/>
                <a:ea typeface="Times New Roman"/>
                <a:cs typeface="Times New Roman"/>
                <a:sym typeface="Times New Roman"/>
              </a:rPr>
            </a:br>
            <a:r>
              <a:rPr lang="en" sz="1400">
                <a:solidFill>
                  <a:schemeClr val="dk1"/>
                </a:solidFill>
                <a:latin typeface="Times New Roman"/>
                <a:ea typeface="Times New Roman"/>
                <a:cs typeface="Times New Roman"/>
                <a:sym typeface="Times New Roman"/>
              </a:rPr>
              <a:t> ~1.3 GFLOPs → </a:t>
            </a:r>
            <a:r>
              <a:rPr lang="en" sz="1400">
                <a:solidFill>
                  <a:schemeClr val="dk1"/>
                </a:solidFill>
                <a:latin typeface="Times New Roman"/>
                <a:ea typeface="Times New Roman"/>
                <a:cs typeface="Times New Roman"/>
                <a:sym typeface="Times New Roman"/>
              </a:rPr>
              <a:t>higher representational capacity </a:t>
            </a:r>
            <a:r>
              <a:rPr lang="en" sz="1400">
                <a:solidFill>
                  <a:schemeClr val="dk1"/>
                </a:solidFill>
                <a:latin typeface="Times New Roman"/>
                <a:ea typeface="Times New Roman"/>
                <a:cs typeface="Times New Roman"/>
                <a:sym typeface="Times New Roman"/>
              </a:rPr>
              <a:t>and best accuracy</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220300" y="455175"/>
            <a:ext cx="2458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a:latin typeface="Times New Roman"/>
                <a:ea typeface="Times New Roman"/>
                <a:cs typeface="Times New Roman"/>
                <a:sym typeface="Times New Roman"/>
              </a:rPr>
              <a:t> </a:t>
            </a:r>
            <a:r>
              <a:rPr b="1" lang="en">
                <a:latin typeface="Times New Roman"/>
                <a:ea typeface="Times New Roman"/>
                <a:cs typeface="Times New Roman"/>
                <a:sym typeface="Times New Roman"/>
              </a:rPr>
              <a:t>Datasets</a:t>
            </a:r>
            <a:endParaRPr b="1">
              <a:latin typeface="Times New Roman"/>
              <a:ea typeface="Times New Roman"/>
              <a:cs typeface="Times New Roman"/>
              <a:sym typeface="Times New Roman"/>
            </a:endParaRPr>
          </a:p>
        </p:txBody>
      </p:sp>
      <p:graphicFrame>
        <p:nvGraphicFramePr>
          <p:cNvPr id="107" name="Google Shape;107;p20"/>
          <p:cNvGraphicFramePr/>
          <p:nvPr/>
        </p:nvGraphicFramePr>
        <p:xfrm>
          <a:off x="952500" y="1619250"/>
          <a:ext cx="3000000" cy="3000000"/>
        </p:xfrm>
        <a:graphic>
          <a:graphicData uri="http://schemas.openxmlformats.org/drawingml/2006/table">
            <a:tbl>
              <a:tblPr>
                <a:noFill/>
                <a:tableStyleId>{0949E6E1-30E8-454B-BFED-BEB2BA13D5C8}</a:tableStyleId>
              </a:tblPr>
              <a:tblGrid>
                <a:gridCol w="2413000"/>
                <a:gridCol w="2413000"/>
                <a:gridCol w="2413000"/>
              </a:tblGrid>
              <a:tr h="381000">
                <a:tc>
                  <a:txBody>
                    <a:bodyPr/>
                    <a:lstStyle/>
                    <a:p>
                      <a:pPr indent="0" lvl="0" marL="0" rtl="0" algn="ctr">
                        <a:spcBef>
                          <a:spcPts val="0"/>
                        </a:spcBef>
                        <a:spcAft>
                          <a:spcPts val="0"/>
                        </a:spcAft>
                        <a:buNone/>
                      </a:pPr>
                      <a:r>
                        <a:rPr b="1" lang="en" sz="1900">
                          <a:latin typeface="Times New Roman"/>
                          <a:ea typeface="Times New Roman"/>
                          <a:cs typeface="Times New Roman"/>
                          <a:sym typeface="Times New Roman"/>
                        </a:rPr>
                        <a:t>Name :</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CIFAR-10</a:t>
                      </a:r>
                      <a:endParaRPr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E-MNIST</a:t>
                      </a:r>
                      <a:endParaRPr sz="19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900">
                          <a:latin typeface="Times New Roman"/>
                          <a:ea typeface="Times New Roman"/>
                          <a:cs typeface="Times New Roman"/>
                          <a:sym typeface="Times New Roman"/>
                        </a:rPr>
                        <a:t>No. of classes :</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10</a:t>
                      </a:r>
                      <a:endParaRPr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47 (Balanced)</a:t>
                      </a:r>
                      <a:endParaRPr sz="19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900">
                          <a:latin typeface="Times New Roman"/>
                          <a:ea typeface="Times New Roman"/>
                          <a:cs typeface="Times New Roman"/>
                          <a:sym typeface="Times New Roman"/>
                        </a:rPr>
                        <a:t>Image size :</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32 X 32</a:t>
                      </a:r>
                      <a:endParaRPr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28 X 28</a:t>
                      </a:r>
                      <a:endParaRPr sz="19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900">
                          <a:latin typeface="Times New Roman"/>
                          <a:ea typeface="Times New Roman"/>
                          <a:cs typeface="Times New Roman"/>
                          <a:sym typeface="Times New Roman"/>
                        </a:rPr>
                        <a:t>Training samples :</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50,000</a:t>
                      </a:r>
                      <a:endParaRPr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112,800</a:t>
                      </a:r>
                      <a:endParaRPr sz="19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900">
                          <a:latin typeface="Times New Roman"/>
                          <a:ea typeface="Times New Roman"/>
                          <a:cs typeface="Times New Roman"/>
                          <a:sym typeface="Times New Roman"/>
                        </a:rPr>
                        <a:t>Testing samples :</a:t>
                      </a:r>
                      <a:endParaRPr b="1"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10,000</a:t>
                      </a:r>
                      <a:endParaRPr sz="19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en" sz="1900">
                          <a:latin typeface="Times New Roman"/>
                          <a:ea typeface="Times New Roman"/>
                          <a:cs typeface="Times New Roman"/>
                          <a:sym typeface="Times New Roman"/>
                        </a:rPr>
                        <a:t>18,800</a:t>
                      </a:r>
                      <a:endParaRPr sz="19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3" name="Google Shape;113;p21"/>
          <p:cNvPicPr preferRelativeResize="0"/>
          <p:nvPr/>
        </p:nvPicPr>
        <p:blipFill>
          <a:blip r:embed="rId3">
            <a:alphaModFix/>
          </a:blip>
          <a:stretch>
            <a:fillRect/>
          </a:stretch>
        </p:blipFill>
        <p:spPr>
          <a:xfrm>
            <a:off x="0" y="-220750"/>
            <a:ext cx="9144001" cy="53198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2381100" y="429450"/>
            <a:ext cx="4054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b="1" lang="en">
                <a:latin typeface="Times New Roman"/>
                <a:ea typeface="Times New Roman"/>
                <a:cs typeface="Times New Roman"/>
                <a:sym typeface="Times New Roman"/>
              </a:rPr>
              <a:t>Evaluation Metrics</a:t>
            </a:r>
            <a:endParaRPr b="1">
              <a:latin typeface="Times New Roman"/>
              <a:ea typeface="Times New Roman"/>
              <a:cs typeface="Times New Roman"/>
              <a:sym typeface="Times New Roman"/>
            </a:endParaRPr>
          </a:p>
        </p:txBody>
      </p:sp>
      <p:sp>
        <p:nvSpPr>
          <p:cNvPr id="119" name="Google Shape;119;p22"/>
          <p:cNvSpPr txBox="1"/>
          <p:nvPr>
            <p:ph idx="1" type="body"/>
          </p:nvPr>
        </p:nvSpPr>
        <p:spPr>
          <a:xfrm>
            <a:off x="311700" y="1134425"/>
            <a:ext cx="8520600" cy="3375000"/>
          </a:xfrm>
          <a:prstGeom prst="rect">
            <a:avLst/>
          </a:prstGeom>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Classification Accuracy :</a:t>
            </a:r>
            <a:r>
              <a:rPr lang="en" sz="1400">
                <a:solidFill>
                  <a:schemeClr val="dk1"/>
                </a:solidFill>
                <a:latin typeface="Times New Roman"/>
                <a:ea typeface="Times New Roman"/>
                <a:cs typeface="Times New Roman"/>
                <a:sym typeface="Times New Roman"/>
              </a:rPr>
              <a:t> measures the model’s prediction performance.</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Params :</a:t>
            </a:r>
            <a:r>
              <a:rPr lang="en" sz="1400">
                <a:solidFill>
                  <a:schemeClr val="dk1"/>
                </a:solidFill>
                <a:latin typeface="Times New Roman"/>
                <a:ea typeface="Times New Roman"/>
                <a:cs typeface="Times New Roman"/>
                <a:sym typeface="Times New Roman"/>
              </a:rPr>
              <a:t> Represents the total number of learnable parameters in the model. </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FLOPs :</a:t>
            </a:r>
            <a:r>
              <a:rPr lang="en" sz="1400">
                <a:solidFill>
                  <a:schemeClr val="dk1"/>
                </a:solidFill>
                <a:latin typeface="Times New Roman"/>
                <a:ea typeface="Times New Roman"/>
                <a:cs typeface="Times New Roman"/>
                <a:sym typeface="Times New Roman"/>
              </a:rPr>
              <a:t> reflects computational complexity and efficiency.</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Inference Time:</a:t>
            </a:r>
            <a:r>
              <a:rPr lang="en" sz="1400">
                <a:solidFill>
                  <a:schemeClr val="dk1"/>
                </a:solidFill>
                <a:latin typeface="Times New Roman"/>
                <a:ea typeface="Times New Roman"/>
                <a:cs typeface="Times New Roman"/>
                <a:sym typeface="Times New Roman"/>
              </a:rPr>
              <a:t> evaluates real-time performance.</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Throughput :</a:t>
            </a:r>
            <a:r>
              <a:rPr b="1" lang="en" sz="1400">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Indicates the number of images processed per second during inference. </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Total Inference TIme :</a:t>
            </a:r>
            <a:r>
              <a:rPr b="1" lang="en" sz="1400">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Measures the complete time required to process the entire test dataset. </a:t>
            </a:r>
            <a:endParaRPr sz="1400">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chemeClr val="dk1"/>
              </a:buClr>
              <a:buSzPts val="1400"/>
              <a:buFont typeface="Times New Roman"/>
              <a:buChar char="●"/>
            </a:pPr>
            <a:r>
              <a:rPr b="1" lang="en" sz="1500">
                <a:solidFill>
                  <a:schemeClr val="dk1"/>
                </a:solidFill>
                <a:latin typeface="Times New Roman"/>
                <a:ea typeface="Times New Roman"/>
                <a:cs typeface="Times New Roman"/>
                <a:sym typeface="Times New Roman"/>
              </a:rPr>
              <a:t>Avg Time/Image :</a:t>
            </a:r>
            <a:r>
              <a:rPr b="1" lang="en" sz="1400">
                <a:solidFill>
                  <a:schemeClr val="dk1"/>
                </a:solidFill>
                <a:latin typeface="Times New Roman"/>
                <a:ea typeface="Times New Roman"/>
                <a:cs typeface="Times New Roman"/>
                <a:sym typeface="Times New Roman"/>
              </a:rPr>
              <a:t> </a:t>
            </a:r>
            <a:r>
              <a:rPr lang="en" sz="1400">
                <a:solidFill>
                  <a:schemeClr val="dk1"/>
                </a:solidFill>
                <a:latin typeface="Times New Roman"/>
                <a:ea typeface="Times New Roman"/>
                <a:cs typeface="Times New Roman"/>
                <a:sym typeface="Times New Roman"/>
              </a:rPr>
              <a:t>Represents the average inference time taken for a single image prediction.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1826625"/>
            <a:ext cx="8520600" cy="888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TRAINING AND TESTING ON CIFAR-10 DATASET WITH RESNET-18 ARCHITECTURE</a:t>
            </a:r>
            <a:endParaRPr b="1">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4"/>
          <p:cNvPicPr preferRelativeResize="0"/>
          <p:nvPr/>
        </p:nvPicPr>
        <p:blipFill>
          <a:blip r:embed="rId3">
            <a:alphaModFix/>
          </a:blip>
          <a:stretch>
            <a:fillRect/>
          </a:stretch>
        </p:blipFill>
        <p:spPr>
          <a:xfrm>
            <a:off x="110800" y="725950"/>
            <a:ext cx="4594225" cy="3062775"/>
          </a:xfrm>
          <a:prstGeom prst="rect">
            <a:avLst/>
          </a:prstGeom>
          <a:noFill/>
          <a:ln>
            <a:noFill/>
          </a:ln>
        </p:spPr>
      </p:pic>
      <p:graphicFrame>
        <p:nvGraphicFramePr>
          <p:cNvPr id="130" name="Google Shape;130;p24"/>
          <p:cNvGraphicFramePr/>
          <p:nvPr/>
        </p:nvGraphicFramePr>
        <p:xfrm>
          <a:off x="4830925" y="725950"/>
          <a:ext cx="3000000" cy="3000000"/>
        </p:xfrm>
        <a:graphic>
          <a:graphicData uri="http://schemas.openxmlformats.org/drawingml/2006/table">
            <a:tbl>
              <a:tblPr>
                <a:noFill/>
                <a:tableStyleId>{0949E6E1-30E8-454B-BFED-BEB2BA13D5C8}</a:tableStyleId>
              </a:tblPr>
              <a:tblGrid>
                <a:gridCol w="1946625"/>
                <a:gridCol w="1946625"/>
              </a:tblGrid>
              <a:tr h="6519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Top-1 Accuracy</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84.4300 %</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6519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Params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11181642.0</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6519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FLOPs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37220352.0</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6519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Throughput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20501.89 images/sec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6519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Total Inference Time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0.4878 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6519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Avg Time/Image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0.00004878 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1826625"/>
            <a:ext cx="8520600" cy="888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TRAINING AND TESTING ON CIFAR-10 DATASET WITH LSNET ARCHITECTURE</a:t>
            </a:r>
            <a:endParaRPr b="1">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6"/>
          <p:cNvPicPr preferRelativeResize="0"/>
          <p:nvPr/>
        </p:nvPicPr>
        <p:blipFill>
          <a:blip r:embed="rId3">
            <a:alphaModFix/>
          </a:blip>
          <a:stretch>
            <a:fillRect/>
          </a:stretch>
        </p:blipFill>
        <p:spPr>
          <a:xfrm>
            <a:off x="41600" y="0"/>
            <a:ext cx="4295501" cy="2539300"/>
          </a:xfrm>
          <a:prstGeom prst="rect">
            <a:avLst/>
          </a:prstGeom>
          <a:noFill/>
          <a:ln>
            <a:noFill/>
          </a:ln>
        </p:spPr>
      </p:pic>
      <p:pic>
        <p:nvPicPr>
          <p:cNvPr id="141" name="Google Shape;141;p26"/>
          <p:cNvPicPr preferRelativeResize="0"/>
          <p:nvPr/>
        </p:nvPicPr>
        <p:blipFill>
          <a:blip r:embed="rId4">
            <a:alphaModFix/>
          </a:blip>
          <a:stretch>
            <a:fillRect/>
          </a:stretch>
        </p:blipFill>
        <p:spPr>
          <a:xfrm>
            <a:off x="2123250" y="2553525"/>
            <a:ext cx="4519275" cy="2539300"/>
          </a:xfrm>
          <a:prstGeom prst="rect">
            <a:avLst/>
          </a:prstGeom>
          <a:noFill/>
          <a:ln>
            <a:noFill/>
          </a:ln>
        </p:spPr>
      </p:pic>
      <p:pic>
        <p:nvPicPr>
          <p:cNvPr id="142" name="Google Shape;142;p26"/>
          <p:cNvPicPr preferRelativeResize="0"/>
          <p:nvPr/>
        </p:nvPicPr>
        <p:blipFill>
          <a:blip r:embed="rId5">
            <a:alphaModFix/>
          </a:blip>
          <a:stretch>
            <a:fillRect/>
          </a:stretch>
        </p:blipFill>
        <p:spPr>
          <a:xfrm>
            <a:off x="4445300" y="0"/>
            <a:ext cx="4652475" cy="24609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aphicFrame>
        <p:nvGraphicFramePr>
          <p:cNvPr id="147" name="Google Shape;147;p27"/>
          <p:cNvGraphicFramePr/>
          <p:nvPr/>
        </p:nvGraphicFramePr>
        <p:xfrm>
          <a:off x="95200" y="483275"/>
          <a:ext cx="3000000" cy="3000000"/>
        </p:xfrm>
        <a:graphic>
          <a:graphicData uri="http://schemas.openxmlformats.org/drawingml/2006/table">
            <a:tbl>
              <a:tblPr>
                <a:noFill/>
                <a:tableStyleId>{0949E6E1-30E8-454B-BFED-BEB2BA13D5C8}</a:tableStyleId>
              </a:tblPr>
              <a:tblGrid>
                <a:gridCol w="988925"/>
                <a:gridCol w="924200"/>
                <a:gridCol w="1189225"/>
                <a:gridCol w="1456425"/>
                <a:gridCol w="1868975"/>
                <a:gridCol w="1251675"/>
                <a:gridCol w="1319450"/>
              </a:tblGrid>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Model/</a:t>
                      </a:r>
                      <a:endParaRPr b="1" sz="1300">
                        <a:latin typeface="Times New Roman"/>
                        <a:ea typeface="Times New Roman"/>
                        <a:cs typeface="Times New Roman"/>
                        <a:sym typeface="Times New Roman"/>
                      </a:endParaRPr>
                    </a:p>
                    <a:p>
                      <a:pPr indent="0" lvl="0" marL="0" rtl="0" algn="ctr">
                        <a:spcBef>
                          <a:spcPts val="0"/>
                        </a:spcBef>
                        <a:spcAft>
                          <a:spcPts val="0"/>
                        </a:spcAft>
                        <a:buNone/>
                      </a:pPr>
                      <a:r>
                        <a:rPr b="1" lang="en" sz="1300">
                          <a:latin typeface="Times New Roman"/>
                          <a:ea typeface="Times New Roman"/>
                          <a:cs typeface="Times New Roman"/>
                          <a:sym typeface="Times New Roman"/>
                        </a:rPr>
                        <a:t>Matrix</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Top-1 Accuracy</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Params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FLOPs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Throughput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Total Inference Time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Times New Roman"/>
                          <a:ea typeface="Times New Roman"/>
                          <a:cs typeface="Times New Roman"/>
                          <a:sym typeface="Times New Roman"/>
                        </a:rPr>
                        <a:t>Avg Time/Image</a:t>
                      </a:r>
                      <a:endParaRPr b="1" sz="1300">
                        <a:latin typeface="Times New Roman"/>
                        <a:ea typeface="Times New Roman"/>
                        <a:cs typeface="Times New Roman"/>
                        <a:sym typeface="Times New Roman"/>
                      </a:endParaRPr>
                    </a:p>
                  </a:txBody>
                  <a:tcPr marT="91425" marB="91425" marR="91425" marL="91425"/>
                </a:tc>
              </a:tr>
              <a:tr h="467325">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0.2600 %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11,406,920.0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320,698,496.0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1644.84 images/sec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6.0796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Clr>
                          <a:schemeClr val="dk1"/>
                        </a:buClr>
                        <a:buSzPts val="1100"/>
                        <a:buFont typeface="Arial"/>
                        <a:buNone/>
                      </a:pPr>
                      <a:r>
                        <a:rPr lang="en" sz="1300">
                          <a:solidFill>
                            <a:schemeClr val="dk1"/>
                          </a:solidFill>
                          <a:highlight>
                            <a:srgbClr val="FFFFFF"/>
                          </a:highlight>
                          <a:latin typeface="Times New Roman"/>
                          <a:ea typeface="Times New Roman"/>
                          <a:cs typeface="Times New Roman"/>
                          <a:sym typeface="Times New Roman"/>
                        </a:rPr>
                        <a:t>0.00060796 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0.8400 %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16,142,672.0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546,113,856.0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1248.22 images/sec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8.0114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0.00080114 sec</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LSNET-B</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0.1400 %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23,307,528.0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1,263,077,888.0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687.70 images/sec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14.5412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0.00145412 sec</a:t>
                      </a:r>
                      <a:endParaRPr sz="1300">
                        <a:latin typeface="Times New Roman"/>
                        <a:ea typeface="Times New Roman"/>
                        <a:cs typeface="Times New Roman"/>
                        <a:sym typeface="Times New Roman"/>
                      </a:endParaRPr>
                    </a:p>
                  </a:txBody>
                  <a:tcPr marT="91425" marB="91425" marR="91425" marL="91425"/>
                </a:tc>
              </a:tr>
            </a:tbl>
          </a:graphicData>
        </a:graphic>
      </p:graphicFrame>
      <p:sp>
        <p:nvSpPr>
          <p:cNvPr id="148" name="Google Shape;148;p27"/>
          <p:cNvSpPr txBox="1"/>
          <p:nvPr>
            <p:ph type="title"/>
          </p:nvPr>
        </p:nvSpPr>
        <p:spPr>
          <a:xfrm>
            <a:off x="0" y="0"/>
            <a:ext cx="5643900" cy="4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420">
                <a:latin typeface="Times New Roman"/>
                <a:ea typeface="Times New Roman"/>
                <a:cs typeface="Times New Roman"/>
                <a:sym typeface="Times New Roman"/>
              </a:rPr>
              <a:t>WITH PRE-TRAINED WEIGHTS OF IMAGE-NET DATASET : -</a:t>
            </a:r>
            <a:endParaRPr b="1" sz="1420">
              <a:latin typeface="Times New Roman"/>
              <a:ea typeface="Times New Roman"/>
              <a:cs typeface="Times New Roman"/>
              <a:sym typeface="Times New Roman"/>
            </a:endParaRPr>
          </a:p>
        </p:txBody>
      </p:sp>
      <p:sp>
        <p:nvSpPr>
          <p:cNvPr id="149" name="Google Shape;149;p27"/>
          <p:cNvSpPr txBox="1"/>
          <p:nvPr>
            <p:ph type="title"/>
          </p:nvPr>
        </p:nvSpPr>
        <p:spPr>
          <a:xfrm>
            <a:off x="72575" y="2571750"/>
            <a:ext cx="5089200" cy="4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420">
                <a:latin typeface="Times New Roman"/>
                <a:ea typeface="Times New Roman"/>
                <a:cs typeface="Times New Roman"/>
                <a:sym typeface="Times New Roman"/>
              </a:rPr>
              <a:t>WITH TRAINED WEIGHTS OF CIFAR-10 DATASET : -</a:t>
            </a:r>
            <a:endParaRPr b="1" sz="1420">
              <a:latin typeface="Times New Roman"/>
              <a:ea typeface="Times New Roman"/>
              <a:cs typeface="Times New Roman"/>
              <a:sym typeface="Times New Roman"/>
            </a:endParaRPr>
          </a:p>
        </p:txBody>
      </p:sp>
      <p:graphicFrame>
        <p:nvGraphicFramePr>
          <p:cNvPr id="150" name="Google Shape;150;p27"/>
          <p:cNvGraphicFramePr/>
          <p:nvPr/>
        </p:nvGraphicFramePr>
        <p:xfrm>
          <a:off x="72563" y="3065925"/>
          <a:ext cx="3000000" cy="3000000"/>
        </p:xfrm>
        <a:graphic>
          <a:graphicData uri="http://schemas.openxmlformats.org/drawingml/2006/table">
            <a:tbl>
              <a:tblPr>
                <a:noFill/>
                <a:tableStyleId>{0949E6E1-30E8-454B-BFED-BEB2BA13D5C8}</a:tableStyleId>
              </a:tblPr>
              <a:tblGrid>
                <a:gridCol w="988925"/>
                <a:gridCol w="924200"/>
                <a:gridCol w="1189225"/>
                <a:gridCol w="1456425"/>
                <a:gridCol w="1868975"/>
                <a:gridCol w="1251675"/>
                <a:gridCol w="1319450"/>
              </a:tblGrid>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Model/</a:t>
                      </a:r>
                      <a:endParaRPr b="1" sz="1300">
                        <a:latin typeface="Times New Roman"/>
                        <a:ea typeface="Times New Roman"/>
                        <a:cs typeface="Times New Roman"/>
                        <a:sym typeface="Times New Roman"/>
                      </a:endParaRPr>
                    </a:p>
                    <a:p>
                      <a:pPr indent="0" lvl="0" marL="0" rtl="0" algn="ctr">
                        <a:spcBef>
                          <a:spcPts val="0"/>
                        </a:spcBef>
                        <a:spcAft>
                          <a:spcPts val="0"/>
                        </a:spcAft>
                        <a:buNone/>
                      </a:pPr>
                      <a:r>
                        <a:rPr b="1" lang="en" sz="1300">
                          <a:latin typeface="Times New Roman"/>
                          <a:ea typeface="Times New Roman"/>
                          <a:cs typeface="Times New Roman"/>
                          <a:sym typeface="Times New Roman"/>
                        </a:rPr>
                        <a:t>Matrix</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Top-1 Accuracy</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Params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FLOPs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Throughput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Total Inference Time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Avg Time/Image</a:t>
                      </a:r>
                      <a:endParaRPr b="1" sz="1300">
                        <a:latin typeface="Times New Roman"/>
                        <a:ea typeface="Times New Roman"/>
                        <a:cs typeface="Times New Roman"/>
                        <a:sym typeface="Times New Roman"/>
                      </a:endParaRPr>
                    </a:p>
                  </a:txBody>
                  <a:tcPr marT="91425" marB="91425" marR="91425" marL="91425"/>
                </a:tc>
              </a:tr>
              <a:tr h="380475">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chemeClr val="lt1"/>
                          </a:highlight>
                          <a:latin typeface="Times New Roman"/>
                          <a:ea typeface="Times New Roman"/>
                          <a:cs typeface="Times New Roman"/>
                          <a:sym typeface="Times New Roman"/>
                        </a:rPr>
                        <a:t>84.98 %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11,406,920.0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320,698,496.0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1527.71 images/sec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6.5457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0.00065457 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85.92</a:t>
                      </a:r>
                      <a:r>
                        <a:rPr lang="en" sz="1300">
                          <a:solidFill>
                            <a:schemeClr val="dk1"/>
                          </a:solidFill>
                          <a:highlight>
                            <a:srgbClr val="FFFFFF"/>
                          </a:highlight>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16,142,672.0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546,113,856.0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1107.80 images/sec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9.0268</a:t>
                      </a:r>
                      <a:r>
                        <a:rPr lang="en" sz="1300">
                          <a:solidFill>
                            <a:schemeClr val="dk1"/>
                          </a:solidFill>
                          <a:highlight>
                            <a:srgbClr val="FFFFFF"/>
                          </a:highlight>
                          <a:latin typeface="Times New Roman"/>
                          <a:ea typeface="Times New Roman"/>
                          <a:cs typeface="Times New Roman"/>
                          <a:sym typeface="Times New Roman"/>
                        </a:rPr>
                        <a:t>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0.00090268 sec</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LSNET-B</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87.82</a:t>
                      </a:r>
                      <a:r>
                        <a:rPr lang="en" sz="1300">
                          <a:solidFill>
                            <a:schemeClr val="dk1"/>
                          </a:solidFill>
                          <a:highlight>
                            <a:srgbClr val="FFFFFF"/>
                          </a:highlight>
                          <a:latin typeface="Times New Roman"/>
                          <a:ea typeface="Times New Roman"/>
                          <a:cs typeface="Times New Roman"/>
                          <a:sym typeface="Times New Roman"/>
                        </a:rPr>
                        <a:t>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23,307,528.0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1,263,077,888.0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637.36 images/sec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15.6896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0.001568963 sec</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1826625"/>
            <a:ext cx="8520600" cy="888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TRAINING AND TESTING ON E-MNIST DATASET WITH LSNET ARCHITECTURE</a:t>
            </a:r>
            <a:endParaRPr b="1">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pic>
        <p:nvPicPr>
          <p:cNvPr id="160" name="Google Shape;160;p29"/>
          <p:cNvPicPr preferRelativeResize="0"/>
          <p:nvPr/>
        </p:nvPicPr>
        <p:blipFill>
          <a:blip r:embed="rId3">
            <a:alphaModFix/>
          </a:blip>
          <a:stretch>
            <a:fillRect/>
          </a:stretch>
        </p:blipFill>
        <p:spPr>
          <a:xfrm>
            <a:off x="4678350" y="81700"/>
            <a:ext cx="4319550" cy="2415175"/>
          </a:xfrm>
          <a:prstGeom prst="rect">
            <a:avLst/>
          </a:prstGeom>
          <a:noFill/>
          <a:ln>
            <a:noFill/>
          </a:ln>
        </p:spPr>
      </p:pic>
      <p:pic>
        <p:nvPicPr>
          <p:cNvPr id="161" name="Google Shape;161;p29"/>
          <p:cNvPicPr preferRelativeResize="0"/>
          <p:nvPr/>
        </p:nvPicPr>
        <p:blipFill>
          <a:blip r:embed="rId4">
            <a:alphaModFix/>
          </a:blip>
          <a:stretch>
            <a:fillRect/>
          </a:stretch>
        </p:blipFill>
        <p:spPr>
          <a:xfrm>
            <a:off x="2186227" y="2496875"/>
            <a:ext cx="4581148" cy="2589425"/>
          </a:xfrm>
          <a:prstGeom prst="rect">
            <a:avLst/>
          </a:prstGeom>
          <a:noFill/>
          <a:ln>
            <a:noFill/>
          </a:ln>
        </p:spPr>
      </p:pic>
      <p:pic>
        <p:nvPicPr>
          <p:cNvPr id="162" name="Google Shape;162;p29"/>
          <p:cNvPicPr preferRelativeResize="0"/>
          <p:nvPr/>
        </p:nvPicPr>
        <p:blipFill>
          <a:blip r:embed="rId5">
            <a:alphaModFix/>
          </a:blip>
          <a:stretch>
            <a:fillRect/>
          </a:stretch>
        </p:blipFill>
        <p:spPr>
          <a:xfrm>
            <a:off x="152400" y="152400"/>
            <a:ext cx="4419600" cy="2272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97525" y="632525"/>
            <a:ext cx="5089200" cy="4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1420">
                <a:latin typeface="Times New Roman"/>
                <a:ea typeface="Times New Roman"/>
                <a:cs typeface="Times New Roman"/>
                <a:sym typeface="Times New Roman"/>
              </a:rPr>
              <a:t>WITH TRAINED WEIGHTS OF E-MNIST DATASET : -</a:t>
            </a:r>
            <a:endParaRPr b="1" sz="1420">
              <a:latin typeface="Times New Roman"/>
              <a:ea typeface="Times New Roman"/>
              <a:cs typeface="Times New Roman"/>
              <a:sym typeface="Times New Roman"/>
            </a:endParaRPr>
          </a:p>
        </p:txBody>
      </p:sp>
      <p:graphicFrame>
        <p:nvGraphicFramePr>
          <p:cNvPr id="168" name="Google Shape;168;p30"/>
          <p:cNvGraphicFramePr/>
          <p:nvPr/>
        </p:nvGraphicFramePr>
        <p:xfrm>
          <a:off x="72550" y="1326450"/>
          <a:ext cx="3000000" cy="3000000"/>
        </p:xfrm>
        <a:graphic>
          <a:graphicData uri="http://schemas.openxmlformats.org/drawingml/2006/table">
            <a:tbl>
              <a:tblPr>
                <a:noFill/>
                <a:tableStyleId>{0949E6E1-30E8-454B-BFED-BEB2BA13D5C8}</a:tableStyleId>
              </a:tblPr>
              <a:tblGrid>
                <a:gridCol w="988925"/>
                <a:gridCol w="924200"/>
                <a:gridCol w="1189225"/>
                <a:gridCol w="1456425"/>
                <a:gridCol w="1868975"/>
                <a:gridCol w="1251675"/>
                <a:gridCol w="1319450"/>
              </a:tblGrid>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Model/</a:t>
                      </a:r>
                      <a:endParaRPr b="1" sz="1300">
                        <a:latin typeface="Times New Roman"/>
                        <a:ea typeface="Times New Roman"/>
                        <a:cs typeface="Times New Roman"/>
                        <a:sym typeface="Times New Roman"/>
                      </a:endParaRPr>
                    </a:p>
                    <a:p>
                      <a:pPr indent="0" lvl="0" marL="0" rtl="0" algn="ctr">
                        <a:spcBef>
                          <a:spcPts val="0"/>
                        </a:spcBef>
                        <a:spcAft>
                          <a:spcPts val="0"/>
                        </a:spcAft>
                        <a:buNone/>
                      </a:pPr>
                      <a:r>
                        <a:rPr b="1" lang="en" sz="1300">
                          <a:latin typeface="Times New Roman"/>
                          <a:ea typeface="Times New Roman"/>
                          <a:cs typeface="Times New Roman"/>
                          <a:sym typeface="Times New Roman"/>
                        </a:rPr>
                        <a:t>Matrix</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Top-1 Accuracy</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Params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FLOPs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Throughput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Total Inference Time</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b="1" lang="en" sz="1300">
                          <a:solidFill>
                            <a:schemeClr val="dk1"/>
                          </a:solidFill>
                          <a:latin typeface="Times New Roman"/>
                          <a:ea typeface="Times New Roman"/>
                          <a:cs typeface="Times New Roman"/>
                          <a:sym typeface="Times New Roman"/>
                        </a:rPr>
                        <a:t>Avg Time/Image</a:t>
                      </a:r>
                      <a:endParaRPr b="1" sz="1300">
                        <a:latin typeface="Times New Roman"/>
                        <a:ea typeface="Times New Roman"/>
                        <a:cs typeface="Times New Roman"/>
                        <a:sym typeface="Times New Roman"/>
                      </a:endParaRPr>
                    </a:p>
                  </a:txBody>
                  <a:tcPr marT="91425" marB="91425" marR="91425" marL="91425"/>
                </a:tc>
              </a:tr>
              <a:tr h="380475">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LSNET-T</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chemeClr val="lt1"/>
                          </a:highlight>
                          <a:latin typeface="Times New Roman"/>
                          <a:ea typeface="Times New Roman"/>
                          <a:cs typeface="Times New Roman"/>
                          <a:sym typeface="Times New Roman"/>
                        </a:rPr>
                        <a:t>87.3245 %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15,748,827.0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35,185,472.0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4650.65</a:t>
                      </a:r>
                      <a:r>
                        <a:rPr lang="en" sz="1300">
                          <a:solidFill>
                            <a:schemeClr val="dk1"/>
                          </a:solidFill>
                          <a:highlight>
                            <a:srgbClr val="FFFFFF"/>
                          </a:highlight>
                          <a:latin typeface="Times New Roman"/>
                          <a:ea typeface="Times New Roman"/>
                          <a:cs typeface="Times New Roman"/>
                          <a:sym typeface="Times New Roman"/>
                        </a:rPr>
                        <a:t> images/sec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4.0424</a:t>
                      </a:r>
                      <a:r>
                        <a:rPr lang="en" sz="1300">
                          <a:solidFill>
                            <a:schemeClr val="dk1"/>
                          </a:solidFill>
                          <a:highlight>
                            <a:srgbClr val="FFFFFF"/>
                          </a:highlight>
                          <a:latin typeface="Times New Roman"/>
                          <a:ea typeface="Times New Roman"/>
                          <a:cs typeface="Times New Roman"/>
                          <a:sym typeface="Times New Roman"/>
                        </a:rPr>
                        <a:t>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0.00021502 sec</a:t>
                      </a:r>
                      <a:endParaRPr sz="1300">
                        <a:solidFill>
                          <a:schemeClr val="dk1"/>
                        </a:solidFill>
                        <a:highlight>
                          <a:srgbClr val="FFFFFF"/>
                        </a:highlight>
                        <a:latin typeface="Times New Roman"/>
                        <a:ea typeface="Times New Roman"/>
                        <a:cs typeface="Times New Roman"/>
                        <a:sym typeface="Times New Roman"/>
                      </a:endParaRPr>
                    </a:p>
                    <a:p>
                      <a:pPr indent="0" lvl="0" marL="0" rtl="0" algn="ctr">
                        <a:spcBef>
                          <a:spcPts val="0"/>
                        </a:spcBef>
                        <a:spcAft>
                          <a:spcPts val="0"/>
                        </a:spcAft>
                        <a:buNone/>
                      </a:pPr>
                      <a:r>
                        <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LSNET-S</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87.7500 %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32,864,151</a:t>
                      </a:r>
                      <a:r>
                        <a:rPr lang="en" sz="1300">
                          <a:solidFill>
                            <a:schemeClr val="dk1"/>
                          </a:solidFill>
                          <a:highlight>
                            <a:srgbClr val="FFFFFF"/>
                          </a:highlight>
                          <a:latin typeface="Times New Roman"/>
                          <a:ea typeface="Times New Roman"/>
                          <a:cs typeface="Times New Roman"/>
                          <a:sym typeface="Times New Roman"/>
                        </a:rPr>
                        <a:t>.0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58,640,832.0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4294.61</a:t>
                      </a:r>
                      <a:r>
                        <a:rPr lang="en" sz="1300">
                          <a:solidFill>
                            <a:schemeClr val="dk1"/>
                          </a:solidFill>
                          <a:highlight>
                            <a:srgbClr val="FFFFFF"/>
                          </a:highlight>
                          <a:latin typeface="Times New Roman"/>
                          <a:ea typeface="Times New Roman"/>
                          <a:cs typeface="Times New Roman"/>
                          <a:sym typeface="Times New Roman"/>
                        </a:rPr>
                        <a:t> images/sec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4.3776</a:t>
                      </a:r>
                      <a:r>
                        <a:rPr lang="en" sz="1300">
                          <a:solidFill>
                            <a:schemeClr val="dk1"/>
                          </a:solidFill>
                          <a:highlight>
                            <a:srgbClr val="FFFFFF"/>
                          </a:highlight>
                          <a:latin typeface="Times New Roman"/>
                          <a:ea typeface="Times New Roman"/>
                          <a:cs typeface="Times New Roman"/>
                          <a:sym typeface="Times New Roman"/>
                        </a:rPr>
                        <a:t>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0.00023285 sec</a:t>
                      </a:r>
                      <a:endParaRPr sz="1300">
                        <a:latin typeface="Times New Roman"/>
                        <a:ea typeface="Times New Roman"/>
                        <a:cs typeface="Times New Roman"/>
                        <a:sym typeface="Times New Roman"/>
                      </a:endParaRPr>
                    </a:p>
                  </a:txBody>
                  <a:tcPr marT="91425" marB="91425" marR="91425" marL="91425"/>
                </a:tc>
              </a:tr>
              <a:tr h="3810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LSNET-B</a:t>
                      </a:r>
                      <a:endParaRPr b="1"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88.4415 %</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96,590,591</a:t>
                      </a:r>
                      <a:r>
                        <a:rPr lang="en" sz="1300">
                          <a:solidFill>
                            <a:schemeClr val="dk1"/>
                          </a:solidFill>
                          <a:highlight>
                            <a:srgbClr val="FFFFFF"/>
                          </a:highlight>
                          <a:latin typeface="Times New Roman"/>
                          <a:ea typeface="Times New Roman"/>
                          <a:cs typeface="Times New Roman"/>
                          <a:sym typeface="Times New Roman"/>
                        </a:rPr>
                        <a:t>.0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157,471,812.0</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3142.76</a:t>
                      </a:r>
                      <a:r>
                        <a:rPr lang="en" sz="1300">
                          <a:solidFill>
                            <a:schemeClr val="dk1"/>
                          </a:solidFill>
                          <a:highlight>
                            <a:srgbClr val="FFFFFF"/>
                          </a:highlight>
                          <a:latin typeface="Times New Roman"/>
                          <a:ea typeface="Times New Roman"/>
                          <a:cs typeface="Times New Roman"/>
                          <a:sym typeface="Times New Roman"/>
                        </a:rPr>
                        <a:t> images/sec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5.9820</a:t>
                      </a:r>
                      <a:r>
                        <a:rPr lang="en" sz="1300">
                          <a:solidFill>
                            <a:schemeClr val="dk1"/>
                          </a:solidFill>
                          <a:highlight>
                            <a:srgbClr val="FFFFFF"/>
                          </a:highlight>
                          <a:latin typeface="Times New Roman"/>
                          <a:ea typeface="Times New Roman"/>
                          <a:cs typeface="Times New Roman"/>
                          <a:sym typeface="Times New Roman"/>
                        </a:rPr>
                        <a:t> sec</a:t>
                      </a:r>
                      <a:endParaRPr sz="13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lang="en" sz="1300">
                          <a:solidFill>
                            <a:schemeClr val="dk1"/>
                          </a:solidFill>
                          <a:highlight>
                            <a:srgbClr val="FFFFFF"/>
                          </a:highlight>
                          <a:latin typeface="Times New Roman"/>
                          <a:ea typeface="Times New Roman"/>
                          <a:cs typeface="Times New Roman"/>
                          <a:sym typeface="Times New Roman"/>
                        </a:rPr>
                        <a:t>0.00031819 sec</a:t>
                      </a:r>
                      <a:endParaRPr sz="13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174" name="Google Shape;174;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just">
              <a:spcBef>
                <a:spcPts val="1200"/>
              </a:spcBef>
              <a:spcAft>
                <a:spcPts val="0"/>
              </a:spcAft>
              <a:buClr>
                <a:schemeClr val="dk1"/>
              </a:buClr>
              <a:buSzPts val="1400"/>
              <a:buFont typeface="Times New Roman"/>
              <a:buAutoNum type="arabicPeriod"/>
            </a:pPr>
            <a:r>
              <a:rPr lang="en" sz="2000">
                <a:solidFill>
                  <a:srgbClr val="000000"/>
                </a:solidFill>
                <a:latin typeface="Times New Roman"/>
                <a:ea typeface="Times New Roman"/>
                <a:cs typeface="Times New Roman"/>
                <a:sym typeface="Times New Roman"/>
              </a:rPr>
              <a:t>LSNet effectively combines global context perception and local feature aggregation for efficient image classification.</a:t>
            </a:r>
            <a:endParaRPr sz="2000">
              <a:solidFill>
                <a:srgbClr val="000000"/>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AutoNum type="arabicPeriod"/>
            </a:pPr>
            <a:r>
              <a:rPr lang="en" sz="2000">
                <a:solidFill>
                  <a:srgbClr val="000000"/>
                </a:solidFill>
                <a:latin typeface="Times New Roman"/>
                <a:ea typeface="Times New Roman"/>
                <a:cs typeface="Times New Roman"/>
                <a:sym typeface="Times New Roman"/>
              </a:rPr>
              <a:t>LSNet-B achieved the highest classification accuracy on both CIFAR-10 and E-MNIST datasets.</a:t>
            </a:r>
            <a:endParaRPr sz="2000">
              <a:solidFill>
                <a:srgbClr val="000000"/>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AutoNum type="arabicPeriod"/>
            </a:pPr>
            <a:r>
              <a:rPr lang="en" sz="2000">
                <a:solidFill>
                  <a:srgbClr val="000000"/>
                </a:solidFill>
                <a:latin typeface="Times New Roman"/>
                <a:ea typeface="Times New Roman"/>
                <a:cs typeface="Times New Roman"/>
                <a:sym typeface="Times New Roman"/>
              </a:rPr>
              <a:t>Pretrained ImageNet weights significantly improved LSNet performance on CIFAR-10.</a:t>
            </a:r>
            <a:endParaRPr sz="2000">
              <a:solidFill>
                <a:srgbClr val="000000"/>
              </a:solidFill>
              <a:latin typeface="Times New Roman"/>
              <a:ea typeface="Times New Roman"/>
              <a:cs typeface="Times New Roman"/>
              <a:sym typeface="Times New Roman"/>
            </a:endParaRPr>
          </a:p>
          <a:p>
            <a:pPr indent="-317500" lvl="0" marL="457200" rtl="0" algn="just">
              <a:spcBef>
                <a:spcPts val="0"/>
              </a:spcBef>
              <a:spcAft>
                <a:spcPts val="0"/>
              </a:spcAft>
              <a:buClr>
                <a:schemeClr val="dk1"/>
              </a:buClr>
              <a:buSzPts val="1400"/>
              <a:buFont typeface="Times New Roman"/>
              <a:buAutoNum type="arabicPeriod"/>
            </a:pPr>
            <a:r>
              <a:rPr lang="en" sz="2000">
                <a:solidFill>
                  <a:srgbClr val="000000"/>
                </a:solidFill>
                <a:latin typeface="Times New Roman"/>
                <a:ea typeface="Times New Roman"/>
                <a:cs typeface="Times New Roman"/>
                <a:sym typeface="Times New Roman"/>
              </a:rPr>
              <a:t>LSNet-T provided lightweight architecture with faster inference suitable for real-time applications.</a:t>
            </a:r>
            <a:endParaRPr sz="21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180" name="Google Shape;180;p32"/>
          <p:cNvSpPr txBox="1"/>
          <p:nvPr>
            <p:ph idx="1" type="body"/>
          </p:nvPr>
        </p:nvSpPr>
        <p:spPr>
          <a:xfrm>
            <a:off x="311700" y="1152475"/>
            <a:ext cx="8520600" cy="1112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Times New Roman"/>
              <a:buAutoNum type="arabicPeriod"/>
            </a:pPr>
            <a:r>
              <a:rPr lang="en" sz="1200" u="sng">
                <a:solidFill>
                  <a:schemeClr val="hlink"/>
                </a:solidFill>
                <a:latin typeface="Times New Roman"/>
                <a:ea typeface="Times New Roman"/>
                <a:cs typeface="Times New Roman"/>
                <a:sym typeface="Times New Roman"/>
                <a:hlinkClick r:id="rId3"/>
              </a:rPr>
              <a:t>https://openaccess.thecvf.com/content/CVPR2025/papers/Wang_LSNet_See_Large_Focus_Small_CVPR_2025_paper.pdf</a:t>
            </a:r>
            <a:endParaRPr sz="12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AutoNum type="arabicPeriod"/>
            </a:pPr>
            <a:r>
              <a:rPr lang="en" sz="1200" u="sng">
                <a:solidFill>
                  <a:schemeClr val="hlink"/>
                </a:solidFill>
                <a:latin typeface="Times New Roman"/>
                <a:ea typeface="Times New Roman"/>
                <a:cs typeface="Times New Roman"/>
                <a:sym typeface="Times New Roman"/>
                <a:hlinkClick r:id="rId4"/>
              </a:rPr>
              <a:t>https://github.com/jameslahm/lsnet</a:t>
            </a:r>
            <a:endParaRPr sz="12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idx="1" type="body"/>
          </p:nvPr>
        </p:nvSpPr>
        <p:spPr>
          <a:xfrm>
            <a:off x="311700" y="1784650"/>
            <a:ext cx="8520600" cy="1179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6000">
                <a:solidFill>
                  <a:schemeClr val="dk1"/>
                </a:solidFill>
                <a:latin typeface="Times New Roman"/>
                <a:ea typeface="Times New Roman"/>
                <a:cs typeface="Times New Roman"/>
                <a:sym typeface="Times New Roman"/>
              </a:rPr>
              <a:t>THANK  YOU</a:t>
            </a:r>
            <a:endParaRPr b="1" sz="60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